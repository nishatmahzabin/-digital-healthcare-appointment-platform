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Barlow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81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776181-C53A-7467-4CA4-3C5F0A8D8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722537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QuickCure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382589"/>
            <a:ext cx="5092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Digital Healthcare Appointment Platform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0023" y="2803029"/>
            <a:ext cx="5092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Tasnim Jahan &amp; Md. Nishat Mahzabin</a:t>
            </a:r>
            <a:endParaRPr lang="en-US" sz="1200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D1C5A163-C7DD-9C9F-8C62-F5D563DA7D2C}"/>
              </a:ext>
            </a:extLst>
          </p:cNvPr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1699FA8-3CF9-2656-08B0-E906F72A0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7830" y="407417"/>
            <a:ext cx="3618309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Problem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97830" y="999232"/>
            <a:ext cx="4719340" cy="1036141"/>
          </a:xfrm>
          <a:prstGeom prst="roundRect">
            <a:avLst>
              <a:gd name="adj" fmla="val 882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8780" y="999232"/>
            <a:ext cx="76200" cy="1036141"/>
          </a:xfrm>
          <a:prstGeom prst="roundRect">
            <a:avLst>
              <a:gd name="adj" fmla="val 280019"/>
            </a:avLst>
          </a:prstGeom>
          <a:solidFill>
            <a:srgbClr val="16FFBB"/>
          </a:solidFill>
          <a:ln/>
        </p:spPr>
      </p:sp>
      <p:sp>
        <p:nvSpPr>
          <p:cNvPr id="6" name="Text 3"/>
          <p:cNvSpPr/>
          <p:nvPr/>
        </p:nvSpPr>
        <p:spPr>
          <a:xfrm>
            <a:off x="716235" y="1160487"/>
            <a:ext cx="2551881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Long Queues &amp; Wasted Time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6235" y="1436712"/>
            <a:ext cx="4339679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appointment scheduling forces patients to wait in line or call repeatedly, creating frustration and inefficiency.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7830" y="2166491"/>
            <a:ext cx="4719340" cy="1036141"/>
          </a:xfrm>
          <a:prstGeom prst="roundRect">
            <a:avLst>
              <a:gd name="adj" fmla="val 882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780" y="2166491"/>
            <a:ext cx="76200" cy="1036141"/>
          </a:xfrm>
          <a:prstGeom prst="roundRect">
            <a:avLst>
              <a:gd name="adj" fmla="val 280019"/>
            </a:avLst>
          </a:prstGeom>
          <a:solidFill>
            <a:srgbClr val="29DDDA"/>
          </a:solidFill>
          <a:ln/>
        </p:spPr>
      </p:sp>
      <p:sp>
        <p:nvSpPr>
          <p:cNvPr id="10" name="Text 7"/>
          <p:cNvSpPr/>
          <p:nvPr/>
        </p:nvSpPr>
        <p:spPr>
          <a:xfrm>
            <a:off x="716235" y="2327746"/>
            <a:ext cx="234069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Double Bookings &amp; Errors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6235" y="2603971"/>
            <a:ext cx="4339679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Without a centralized system, overlapping appointments and clerical mistakes are common and difficult to resolve.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7830" y="3333750"/>
            <a:ext cx="4719340" cy="1036141"/>
          </a:xfrm>
          <a:prstGeom prst="roundRect">
            <a:avLst>
              <a:gd name="adj" fmla="val 882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8780" y="3333750"/>
            <a:ext cx="76200" cy="1036141"/>
          </a:xfrm>
          <a:prstGeom prst="roundRect">
            <a:avLst>
              <a:gd name="adj" fmla="val 280019"/>
            </a:avLst>
          </a:prstGeom>
          <a:solidFill>
            <a:srgbClr val="37A7E7"/>
          </a:solidFill>
          <a:ln/>
        </p:spPr>
      </p:sp>
      <p:sp>
        <p:nvSpPr>
          <p:cNvPr id="14" name="Text 11"/>
          <p:cNvSpPr/>
          <p:nvPr/>
        </p:nvSpPr>
        <p:spPr>
          <a:xfrm>
            <a:off x="716235" y="3495005"/>
            <a:ext cx="3219896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Poor Records &amp; Communication Gaps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6235" y="3771230"/>
            <a:ext cx="4339679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 histories are fragmented across paper files, and patients rarely receive timely updates or confirmations.</a:t>
            </a:r>
            <a:endParaRPr lang="en-US" sz="11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5B850E9-EFDF-41D3-F203-706676B56811}"/>
              </a:ext>
            </a:extLst>
          </p:cNvPr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04DF3B-4306-64EC-A11F-32EB806F8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0023" y="856878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Our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347192"/>
            <a:ext cx="363408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QuickCure — One Platform, Three Users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0023" y="1792932"/>
            <a:ext cx="463495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QuickCure is a web-based appointment platform that removes manual bottlenecks entirely. Patients browse verified doctors and book in seconds. Doctors view their daily schedule at a glance. Administrators oversee everything from a unified dashboard — no double bookings, no paperwork, no gaps.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0023" y="3200995"/>
            <a:ext cx="4634954" cy="665187"/>
          </a:xfrm>
          <a:prstGeom prst="roundRect">
            <a:avLst>
              <a:gd name="adj" fmla="val 34796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83" y="3439790"/>
            <a:ext cx="192881" cy="1542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425" y="3393802"/>
            <a:ext cx="4436492" cy="256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Designed for simplicity. Built for reliability.</a:t>
            </a:r>
            <a:endParaRPr lang="en-US" sz="120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EB01D1D2-C566-A361-80FE-3B480E8D737B}"/>
              </a:ext>
            </a:extLst>
          </p:cNvPr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9AC76F9-1C25-92F4-F339-B94F6A17A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6313" y="432122"/>
            <a:ext cx="3671888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Features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313" y="1215182"/>
            <a:ext cx="216991" cy="216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8887" y="1221507"/>
            <a:ext cx="2360191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Registration &amp; Login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58887" y="1558007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Secure sign-up and authentication for patients, doctors, and administrators.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313" y="2302966"/>
            <a:ext cx="216991" cy="2169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8887" y="2309292"/>
            <a:ext cx="20645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Doctor Listing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58887" y="2645792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Browse verified doctors by specialty, availability, and location.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313" y="3390751"/>
            <a:ext cx="216991" cy="2169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8887" y="3397076"/>
            <a:ext cx="20645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Online Booking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858887" y="3733577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slot selection eliminates double bookings and manual errors.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3198" y="1215182"/>
            <a:ext cx="216991" cy="2169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05772" y="1221507"/>
            <a:ext cx="20645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Admin Panel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5105772" y="1558007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Centralized control for managing users, doctors, and appointment records.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3198" y="2302966"/>
            <a:ext cx="216991" cy="2169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05772" y="2309292"/>
            <a:ext cx="2149301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Appointment Tracking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5105772" y="2645792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Patients and doctors can view, modify, or cancel appointments in real time.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3198" y="3390751"/>
            <a:ext cx="216991" cy="21699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05772" y="3397076"/>
            <a:ext cx="20645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Secure Data Storage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5105772" y="3733577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 records and medical history stored safely with role-based access.</a:t>
            </a:r>
            <a:endParaRPr lang="en-US" sz="11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92B873D9-3EF2-AF67-B92B-F44552150CED}"/>
              </a:ext>
            </a:extLst>
          </p:cNvPr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E380CCF-EEE4-75B8-C3E9-A5B44F4D4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1614" y="436364"/>
            <a:ext cx="3832622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It Works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22225" y="1082501"/>
            <a:ext cx="4073872" cy="3215357"/>
          </a:xfrm>
          <a:prstGeom prst="roundRect">
            <a:avLst>
              <a:gd name="adj" fmla="val 11338"/>
            </a:avLst>
          </a:prstGeom>
          <a:solidFill>
            <a:srgbClr val="2D2E34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4104" y="1231999"/>
            <a:ext cx="21449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Three User Roles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5054" y="1592089"/>
            <a:ext cx="38100" cy="1121866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6" name="Text 4"/>
          <p:cNvSpPr/>
          <p:nvPr/>
        </p:nvSpPr>
        <p:spPr>
          <a:xfrm>
            <a:off x="764084" y="1611139"/>
            <a:ext cx="2058814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Patient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4084" y="1971601"/>
            <a:ext cx="1601614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Register, search doctors, book &amp; track appointments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33501" y="1592089"/>
            <a:ext cx="38100" cy="1121866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2742530" y="1611139"/>
            <a:ext cx="205888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2530" y="1971601"/>
            <a:ext cx="1601688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View schedule, manage availability, review patient details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5054" y="2974851"/>
            <a:ext cx="38100" cy="639663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2" name="Text 10"/>
          <p:cNvSpPr/>
          <p:nvPr/>
        </p:nvSpPr>
        <p:spPr>
          <a:xfrm>
            <a:off x="764084" y="2993901"/>
            <a:ext cx="21449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4084" y="3354363"/>
            <a:ext cx="403733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 users, oversee all bookings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62054" y="1231999"/>
            <a:ext cx="21449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62054" y="1611139"/>
            <a:ext cx="1852761" cy="1184523"/>
          </a:xfrm>
          <a:prstGeom prst="roundRect">
            <a:avLst>
              <a:gd name="adj" fmla="val 1923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2983" y="1782068"/>
            <a:ext cx="1968103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HTML &amp; CSS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2983" y="2142530"/>
            <a:ext cx="151090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Frontend structure and responsive styling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4313" y="1611139"/>
            <a:ext cx="1852836" cy="1184523"/>
          </a:xfrm>
          <a:prstGeom prst="roundRect">
            <a:avLst>
              <a:gd name="adj" fmla="val 1923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5242" y="1782068"/>
            <a:ext cx="196817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5242" y="2142530"/>
            <a:ext cx="151097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Server-side logic and session handling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62054" y="2945160"/>
            <a:ext cx="1852761" cy="1184523"/>
          </a:xfrm>
          <a:prstGeom prst="roundRect">
            <a:avLst>
              <a:gd name="adj" fmla="val 1923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2983" y="3116089"/>
            <a:ext cx="1968103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MySQL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2983" y="3476551"/>
            <a:ext cx="151090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Relational database for all records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64313" y="2945160"/>
            <a:ext cx="1852836" cy="1184523"/>
          </a:xfrm>
          <a:prstGeom prst="roundRect">
            <a:avLst>
              <a:gd name="adj" fmla="val 1923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5242" y="3116089"/>
            <a:ext cx="196817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VS 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35242" y="3476551"/>
            <a:ext cx="151097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Development environment</a:t>
            </a:r>
            <a:endParaRPr lang="en-US" sz="115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428A57BD-B8E0-E670-78A6-3F1420951D85}"/>
              </a:ext>
            </a:extLst>
          </p:cNvPr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7914389-E281-03C2-CAE3-33EDB937C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89421" y="403027"/>
            <a:ext cx="3564731" cy="388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9421" y="1044922"/>
            <a:ext cx="8165157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QuickCure's architecture is documented through three core UML diagrams that capture user interactions, system flows, and process sequences.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9421" y="1740545"/>
            <a:ext cx="20109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9421" y="2061493"/>
            <a:ext cx="2040582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User–system interactions and actor goals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880" y="1756321"/>
            <a:ext cx="3401616" cy="19169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99175" y="1922423"/>
            <a:ext cx="630012" cy="83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 Case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2956375" y="2033011"/>
            <a:ext cx="630012" cy="143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interactions and goals</a:t>
            </a:r>
            <a:endParaRPr lang="en-US" sz="450" dirty="0"/>
          </a:p>
        </p:txBody>
      </p:sp>
      <p:sp>
        <p:nvSpPr>
          <p:cNvPr id="9" name="Text 6"/>
          <p:cNvSpPr/>
          <p:nvPr/>
        </p:nvSpPr>
        <p:spPr>
          <a:xfrm>
            <a:off x="5570255" y="2384879"/>
            <a:ext cx="1083862" cy="83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Sequence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5570255" y="2495466"/>
            <a:ext cx="626662" cy="143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Message exchanges over time</a:t>
            </a:r>
            <a:endParaRPr lang="en-US" sz="450" dirty="0"/>
          </a:p>
        </p:txBody>
      </p:sp>
      <p:sp>
        <p:nvSpPr>
          <p:cNvPr id="11" name="Text 8"/>
          <p:cNvSpPr/>
          <p:nvPr/>
        </p:nvSpPr>
        <p:spPr>
          <a:xfrm>
            <a:off x="2522686" y="3318378"/>
            <a:ext cx="606554" cy="83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Activity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2522686" y="3428965"/>
            <a:ext cx="606554" cy="7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process flows</a:t>
            </a:r>
            <a:endParaRPr lang="en-US" sz="450" dirty="0"/>
          </a:p>
        </p:txBody>
      </p:sp>
      <p:sp>
        <p:nvSpPr>
          <p:cNvPr id="13" name="Text 10"/>
          <p:cNvSpPr/>
          <p:nvPr/>
        </p:nvSpPr>
        <p:spPr>
          <a:xfrm>
            <a:off x="6623372" y="1740545"/>
            <a:ext cx="20109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Sequence Diagram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3372" y="2061493"/>
            <a:ext cx="2040582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message exchange and timing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421" y="3958307"/>
            <a:ext cx="8165157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Activity Diagram</a:t>
            </a:r>
            <a:endParaRPr lang="en-US" sz="1100" dirty="0"/>
          </a:p>
          <a:p>
            <a:pPr marL="0" indent="0" algn="ctr">
              <a:lnSpc>
                <a:spcPct val="127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Appointment booking flow and decision points</a:t>
            </a:r>
            <a:endParaRPr lang="en-US" sz="11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2729486-D229-AED9-5477-73AB330F28CE}"/>
              </a:ext>
            </a:extLst>
          </p:cNvPr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EE3238A-D067-FA45-8252-571AFFF50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6313" y="432122"/>
            <a:ext cx="4218236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Challenges &amp; Limitations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313" y="1215182"/>
            <a:ext cx="216991" cy="216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8887" y="1221507"/>
            <a:ext cx="2477319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 Real-Time Notifications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58887" y="1558007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do not receive instant updates for appointment changes or reminders.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313" y="2302966"/>
            <a:ext cx="216991" cy="2169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8887" y="2309292"/>
            <a:ext cx="2241277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 Payment Integration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58887" y="2645792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Appointments cannot be paid for directly through the platform.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313" y="3390751"/>
            <a:ext cx="216991" cy="2169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8887" y="3397076"/>
            <a:ext cx="2611338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Mobile App Not Yet Available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858887" y="3733577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platform is currently web-based; no dedicated mobile application exists.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3198" y="1215182"/>
            <a:ext cx="216991" cy="2169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05772" y="1221507"/>
            <a:ext cx="259035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Limited to Local Deployment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5105772" y="1558007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current system is designed for single-instance, on-premise use.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3198" y="2302966"/>
            <a:ext cx="216991" cy="2169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05772" y="2309292"/>
            <a:ext cx="2352080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 Telemedicine Support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5105772" y="2645792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Virtual consultations or remote care features are not integrated.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3198" y="3390751"/>
            <a:ext cx="216991" cy="21699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05772" y="3397076"/>
            <a:ext cx="20645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Basic Security Model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5105772" y="3733577"/>
            <a:ext cx="3536677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Security features are fundamental and lack advanced threat protection.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9113" y="4487094"/>
            <a:ext cx="813137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9000"/>
              </a:lnSpc>
              <a:buNone/>
            </a:pPr>
            <a:endParaRPr lang="en-US" sz="11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074125C5-EB8F-2B47-9774-593F18C43623}"/>
              </a:ext>
            </a:extLst>
          </p:cNvPr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E1D952A-BF70-8576-7207-29562E6AD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7830" y="407417"/>
            <a:ext cx="3618309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Impact &amp; Benefits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97830" y="999232"/>
            <a:ext cx="4719340" cy="1036141"/>
          </a:xfrm>
          <a:prstGeom prst="roundRect">
            <a:avLst>
              <a:gd name="adj" fmla="val 882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8780" y="999232"/>
            <a:ext cx="76200" cy="1036141"/>
          </a:xfrm>
          <a:prstGeom prst="roundRect">
            <a:avLst>
              <a:gd name="adj" fmla="val 280019"/>
            </a:avLst>
          </a:prstGeom>
          <a:solidFill>
            <a:srgbClr val="16FFBB"/>
          </a:solidFill>
          <a:ln/>
        </p:spPr>
      </p:sp>
      <p:sp>
        <p:nvSpPr>
          <p:cNvPr id="6" name="Text 3"/>
          <p:cNvSpPr/>
          <p:nvPr/>
        </p:nvSpPr>
        <p:spPr>
          <a:xfrm>
            <a:off x="716235" y="1160487"/>
            <a:ext cx="2051596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Faster Access to Care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6235" y="1436712"/>
            <a:ext cx="4339679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Patients can find and book appointments instantly, eliminating long wait times and frustrating phone calls.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7830" y="2166491"/>
            <a:ext cx="4719340" cy="1036141"/>
          </a:xfrm>
          <a:prstGeom prst="roundRect">
            <a:avLst>
              <a:gd name="adj" fmla="val 882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780" y="2166491"/>
            <a:ext cx="76200" cy="1036141"/>
          </a:xfrm>
          <a:prstGeom prst="roundRect">
            <a:avLst>
              <a:gd name="adj" fmla="val 280019"/>
            </a:avLst>
          </a:prstGeom>
          <a:solidFill>
            <a:srgbClr val="29DDDA"/>
          </a:solidFill>
          <a:ln/>
        </p:spPr>
      </p:sp>
      <p:sp>
        <p:nvSpPr>
          <p:cNvPr id="10" name="Text 7"/>
          <p:cNvSpPr/>
          <p:nvPr/>
        </p:nvSpPr>
        <p:spPr>
          <a:xfrm>
            <a:off x="716235" y="2327746"/>
            <a:ext cx="2813298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Reduced Administrative Burden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6235" y="2603971"/>
            <a:ext cx="4339679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scheduling, reminders, and record-keeping free up staff to focus on patient care, minimizing manual errors.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7830" y="3333750"/>
            <a:ext cx="4719340" cy="1036141"/>
          </a:xfrm>
          <a:prstGeom prst="roundRect">
            <a:avLst>
              <a:gd name="adj" fmla="val 8825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8780" y="3333750"/>
            <a:ext cx="76200" cy="1036141"/>
          </a:xfrm>
          <a:prstGeom prst="roundRect">
            <a:avLst>
              <a:gd name="adj" fmla="val 280019"/>
            </a:avLst>
          </a:prstGeom>
          <a:solidFill>
            <a:srgbClr val="37A7E7"/>
          </a:solidFill>
          <a:ln/>
        </p:spPr>
      </p:sp>
      <p:sp>
        <p:nvSpPr>
          <p:cNvPr id="14" name="Text 11"/>
          <p:cNvSpPr/>
          <p:nvPr/>
        </p:nvSpPr>
        <p:spPr>
          <a:xfrm>
            <a:off x="716235" y="3495005"/>
            <a:ext cx="3061618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Better Doctor-Patient Coordination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6235" y="3771230"/>
            <a:ext cx="4339679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updates, secure messaging, and accessible medical histories ensure seamless communication and informed consultations.</a:t>
            </a:r>
            <a:endParaRPr lang="en-US" sz="11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76DFB88-AE4C-14CB-8887-EA99EA2852D3}"/>
              </a:ext>
            </a:extLst>
          </p:cNvPr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3FFF0B5-6520-4DEF-325E-4C1C6ACED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792" y="4646414"/>
            <a:ext cx="1073698" cy="445442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252" y="353839"/>
            <a:ext cx="28146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71252" y="757907"/>
            <a:ext cx="497249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QuickCure addresses a real and widespread challenge in healthcare delivery — replacing slow, error-prone manual processes with a streamlined digital experience for patients, doctors, and administrators alike.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71252" y="1153790"/>
            <a:ext cx="16359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71252" y="1410519"/>
            <a:ext cx="424309" cy="636463"/>
          </a:xfrm>
          <a:prstGeom prst="roundRect">
            <a:avLst>
              <a:gd name="adj" fmla="val 360025"/>
            </a:avLst>
          </a:prstGeom>
          <a:solidFill>
            <a:srgbClr val="0A081B"/>
          </a:solidFill>
          <a:ln w="9525">
            <a:solidFill>
              <a:srgbClr val="16FFB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58" y="1649164"/>
            <a:ext cx="159097" cy="1590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487" y="1516559"/>
            <a:ext cx="16359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71252" y="2119908"/>
            <a:ext cx="424309" cy="636463"/>
          </a:xfrm>
          <a:prstGeom prst="roundRect">
            <a:avLst>
              <a:gd name="adj" fmla="val 360025"/>
            </a:avLst>
          </a:prstGeom>
          <a:solidFill>
            <a:srgbClr val="0A081B"/>
          </a:solidFill>
          <a:ln w="9525">
            <a:solidFill>
              <a:srgbClr val="29DDD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3858" y="2358554"/>
            <a:ext cx="159097" cy="1590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487" y="2225948"/>
            <a:ext cx="16359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Online Payment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71252" y="2829297"/>
            <a:ext cx="424309" cy="636463"/>
          </a:xfrm>
          <a:prstGeom prst="roundRect">
            <a:avLst>
              <a:gd name="adj" fmla="val 360025"/>
            </a:avLst>
          </a:prstGeom>
          <a:solidFill>
            <a:srgbClr val="0A081B"/>
          </a:solidFill>
          <a:ln w="9525">
            <a:solidFill>
              <a:srgbClr val="37A7E7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3858" y="3067943"/>
            <a:ext cx="159097" cy="1590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487" y="2935337"/>
            <a:ext cx="16359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371252" y="3538686"/>
            <a:ext cx="424309" cy="636463"/>
          </a:xfrm>
          <a:prstGeom prst="roundRect">
            <a:avLst>
              <a:gd name="adj" fmla="val 360025"/>
            </a:avLst>
          </a:prstGeom>
          <a:solidFill>
            <a:srgbClr val="0A081B"/>
          </a:solidFill>
          <a:ln w="9525">
            <a:solidFill>
              <a:srgbClr val="091231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858" y="3777332"/>
            <a:ext cx="159097" cy="1590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8487" y="3644726"/>
            <a:ext cx="163591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Video Consultation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530349" y="4339158"/>
            <a:ext cx="5270599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"Bringing smarter healthcare, one appointment at a time."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371252" y="4257154"/>
            <a:ext cx="14288" cy="307256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0" name="Text 13"/>
          <p:cNvSpPr/>
          <p:nvPr/>
        </p:nvSpPr>
        <p:spPr>
          <a:xfrm>
            <a:off x="2256755" y="4646414"/>
            <a:ext cx="2315245" cy="14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582</Words>
  <Application>Microsoft Office PowerPoint</Application>
  <PresentationFormat>On-screen Show (16:9)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Spline Sans Bold</vt:lpstr>
      <vt:lpstr>Barlow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Nishat</dc:creator>
  <cp:lastModifiedBy>Nishat Mahzabin</cp:lastModifiedBy>
  <cp:revision>2</cp:revision>
  <dcterms:created xsi:type="dcterms:W3CDTF">2026-05-17T12:50:59Z</dcterms:created>
  <dcterms:modified xsi:type="dcterms:W3CDTF">2026-05-17T15:34:02Z</dcterms:modified>
</cp:coreProperties>
</file>